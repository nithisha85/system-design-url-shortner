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Libre Baskerville" panose="020F0502020204030204" pitchFamily="2" charset="0"/>
      <p:bold r:id="rId13"/>
    </p:embeddedFont>
    <p:embeddedFont>
      <p:font typeface="Open Sans" panose="020B0606030504020204" pitchFamily="34" charset="0"/>
      <p:regular r:id="rId14"/>
      <p:bold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101" y="3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11/19/2025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93790" y="2872978"/>
            <a:ext cx="7556421" cy="141755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URL Shortener System Design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630698"/>
            <a:ext cx="75564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comprehensive system design for building a scalable, high-performance URL shortening service</a:t>
            </a:r>
            <a:endParaRPr lang="en-US" sz="175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301975-F1EA-390B-C466-72B775CB9EFB}"/>
              </a:ext>
            </a:extLst>
          </p:cNvPr>
          <p:cNvSpPr/>
          <p:nvPr/>
        </p:nvSpPr>
        <p:spPr>
          <a:xfrm>
            <a:off x="12716759" y="7758260"/>
            <a:ext cx="1819373" cy="3959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113240"/>
            <a:ext cx="5978247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Stakeholder Analysis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275648"/>
            <a:ext cx="6407944" cy="1306949"/>
          </a:xfrm>
          <a:prstGeom prst="roundRect">
            <a:avLst>
              <a:gd name="adj" fmla="val 2603"/>
            </a:avLst>
          </a:prstGeom>
          <a:solidFill>
            <a:srgbClr val="EAE8F3"/>
          </a:solidFill>
        </p:spPr>
      </p:sp>
      <p:sp>
        <p:nvSpPr>
          <p:cNvPr id="4" name="Text 2"/>
          <p:cNvSpPr/>
          <p:nvPr/>
        </p:nvSpPr>
        <p:spPr>
          <a:xfrm>
            <a:off x="1020604" y="3502462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Marketers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0604" y="3992880"/>
            <a:ext cx="59543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 links, branded domains, campaign analytics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7428548" y="3275648"/>
            <a:ext cx="6408063" cy="1306949"/>
          </a:xfrm>
          <a:prstGeom prst="roundRect">
            <a:avLst>
              <a:gd name="adj" fmla="val 2603"/>
            </a:avLst>
          </a:prstGeom>
          <a:solidFill>
            <a:srgbClr val="EAE8F3"/>
          </a:solidFill>
        </p:spPr>
      </p:sp>
      <p:sp>
        <p:nvSpPr>
          <p:cNvPr id="7" name="Text 5"/>
          <p:cNvSpPr/>
          <p:nvPr/>
        </p:nvSpPr>
        <p:spPr>
          <a:xfrm>
            <a:off x="7655362" y="3502462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App Developers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655362" y="3992880"/>
            <a:ext cx="5954435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Stable APIs, automation, integrations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793790" y="4809411"/>
            <a:ext cx="6407944" cy="1306949"/>
          </a:xfrm>
          <a:prstGeom prst="roundRect">
            <a:avLst>
              <a:gd name="adj" fmla="val 2603"/>
            </a:avLst>
          </a:prstGeom>
          <a:solidFill>
            <a:srgbClr val="EAE8F3"/>
          </a:solidFill>
        </p:spPr>
      </p:sp>
      <p:sp>
        <p:nvSpPr>
          <p:cNvPr id="10" name="Text 8"/>
          <p:cNvSpPr/>
          <p:nvPr/>
        </p:nvSpPr>
        <p:spPr>
          <a:xfrm>
            <a:off x="1020604" y="5036225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End Users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20604" y="5526643"/>
            <a:ext cx="59543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Fast global redirects, reliable uptime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428548" y="4809411"/>
            <a:ext cx="6408063" cy="1306949"/>
          </a:xfrm>
          <a:prstGeom prst="roundRect">
            <a:avLst>
              <a:gd name="adj" fmla="val 2603"/>
            </a:avLst>
          </a:prstGeom>
          <a:solidFill>
            <a:srgbClr val="EAE8F3"/>
          </a:solidFill>
        </p:spPr>
      </p:sp>
      <p:sp>
        <p:nvSpPr>
          <p:cNvPr id="13" name="Text 11"/>
          <p:cNvSpPr/>
          <p:nvPr/>
        </p:nvSpPr>
        <p:spPr>
          <a:xfrm>
            <a:off x="7655362" y="5036225"/>
            <a:ext cx="3064669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Analytics Consumers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655362" y="5526643"/>
            <a:ext cx="5954435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Aggregated click insights</a:t>
            </a:r>
            <a:endParaRPr lang="en-US" sz="175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754570-2E78-3447-14BC-7C8F68BDA7C5}"/>
              </a:ext>
            </a:extLst>
          </p:cNvPr>
          <p:cNvSpPr/>
          <p:nvPr/>
        </p:nvSpPr>
        <p:spPr>
          <a:xfrm>
            <a:off x="12811027" y="7739406"/>
            <a:ext cx="1753385" cy="4242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71838"/>
            <a:ext cx="5670590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Priority Matrix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534245"/>
            <a:ext cx="6407944" cy="2048351"/>
          </a:xfrm>
          <a:prstGeom prst="roundRect">
            <a:avLst>
              <a:gd name="adj" fmla="val 1661"/>
            </a:avLst>
          </a:prstGeom>
          <a:solidFill>
            <a:srgbClr val="FBFAFF"/>
          </a:solidFill>
          <a:ln w="30480">
            <a:solidFill>
              <a:srgbClr val="D0CE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270" y="2564725"/>
            <a:ext cx="6346984" cy="680442"/>
          </a:xfrm>
          <a:prstGeom prst="rect">
            <a:avLst/>
          </a:prstGeom>
          <a:solidFill>
            <a:srgbClr val="EAE8F3"/>
          </a:solidFill>
        </p:spPr>
      </p:sp>
      <p:sp>
        <p:nvSpPr>
          <p:cNvPr id="5" name="Text 3"/>
          <p:cNvSpPr/>
          <p:nvPr/>
        </p:nvSpPr>
        <p:spPr>
          <a:xfrm>
            <a:off x="3827621" y="2692241"/>
            <a:ext cx="340162" cy="4252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1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1051084" y="3471982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Critical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084" y="3962400"/>
            <a:ext cx="589335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Redirect latency, correctness, availability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28548" y="2534245"/>
            <a:ext cx="6408063" cy="2048351"/>
          </a:xfrm>
          <a:prstGeom prst="roundRect">
            <a:avLst>
              <a:gd name="adj" fmla="val 1661"/>
            </a:avLst>
          </a:prstGeom>
          <a:solidFill>
            <a:srgbClr val="FBFAFF"/>
          </a:solidFill>
          <a:ln w="30480">
            <a:solidFill>
              <a:srgbClr val="D0CE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59027" y="2564725"/>
            <a:ext cx="6347103" cy="680442"/>
          </a:xfrm>
          <a:prstGeom prst="rect">
            <a:avLst/>
          </a:prstGeom>
          <a:solidFill>
            <a:srgbClr val="EAE8F3"/>
          </a:solidFill>
        </p:spPr>
      </p:sp>
      <p:sp>
        <p:nvSpPr>
          <p:cNvPr id="10" name="Text 8"/>
          <p:cNvSpPr/>
          <p:nvPr/>
        </p:nvSpPr>
        <p:spPr>
          <a:xfrm>
            <a:off x="10462498" y="2692241"/>
            <a:ext cx="340162" cy="4252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2</a:t>
            </a:r>
            <a:endParaRPr lang="en-US" sz="2650" dirty="0"/>
          </a:p>
        </p:txBody>
      </p:sp>
      <p:sp>
        <p:nvSpPr>
          <p:cNvPr id="11" name="Text 9"/>
          <p:cNvSpPr/>
          <p:nvPr/>
        </p:nvSpPr>
        <p:spPr>
          <a:xfrm>
            <a:off x="7685842" y="3471982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High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685842" y="3962400"/>
            <a:ext cx="5893475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Accurate analytics, strong API reliability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93790" y="4809411"/>
            <a:ext cx="6407944" cy="2048351"/>
          </a:xfrm>
          <a:prstGeom prst="roundRect">
            <a:avLst>
              <a:gd name="adj" fmla="val 1661"/>
            </a:avLst>
          </a:prstGeom>
          <a:solidFill>
            <a:srgbClr val="FBFAFF"/>
          </a:solidFill>
          <a:ln w="30480">
            <a:solidFill>
              <a:srgbClr val="D0CE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4270" y="4839891"/>
            <a:ext cx="6346984" cy="680442"/>
          </a:xfrm>
          <a:prstGeom prst="rect">
            <a:avLst/>
          </a:prstGeom>
          <a:solidFill>
            <a:srgbClr val="EAE8F3"/>
          </a:solidFill>
        </p:spPr>
      </p:sp>
      <p:sp>
        <p:nvSpPr>
          <p:cNvPr id="15" name="Text 13"/>
          <p:cNvSpPr/>
          <p:nvPr/>
        </p:nvSpPr>
        <p:spPr>
          <a:xfrm>
            <a:off x="3827621" y="4967407"/>
            <a:ext cx="340162" cy="4252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3</a:t>
            </a:r>
            <a:endParaRPr lang="en-US" sz="2650" dirty="0"/>
          </a:p>
        </p:txBody>
      </p:sp>
      <p:sp>
        <p:nvSpPr>
          <p:cNvPr id="16" name="Text 14"/>
          <p:cNvSpPr/>
          <p:nvPr/>
        </p:nvSpPr>
        <p:spPr>
          <a:xfrm>
            <a:off x="1051084" y="5747147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Medium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51084" y="6237565"/>
            <a:ext cx="589335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 alias features, dashboard polish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428548" y="4809411"/>
            <a:ext cx="6408063" cy="2048351"/>
          </a:xfrm>
          <a:prstGeom prst="roundRect">
            <a:avLst>
              <a:gd name="adj" fmla="val 1661"/>
            </a:avLst>
          </a:prstGeom>
          <a:solidFill>
            <a:srgbClr val="FBFAFF"/>
          </a:solidFill>
          <a:ln w="30480">
            <a:solidFill>
              <a:srgbClr val="D0CE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59027" y="4839891"/>
            <a:ext cx="6347103" cy="680442"/>
          </a:xfrm>
          <a:prstGeom prst="rect">
            <a:avLst/>
          </a:prstGeom>
          <a:solidFill>
            <a:srgbClr val="EAE8F3"/>
          </a:solidFill>
        </p:spPr>
      </p:sp>
      <p:sp>
        <p:nvSpPr>
          <p:cNvPr id="20" name="Text 18"/>
          <p:cNvSpPr/>
          <p:nvPr/>
        </p:nvSpPr>
        <p:spPr>
          <a:xfrm>
            <a:off x="10462498" y="4967407"/>
            <a:ext cx="340162" cy="4252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4</a:t>
            </a:r>
            <a:endParaRPr lang="en-US" sz="2650" dirty="0"/>
          </a:p>
        </p:txBody>
      </p:sp>
      <p:sp>
        <p:nvSpPr>
          <p:cNvPr id="21" name="Text 19"/>
          <p:cNvSpPr/>
          <p:nvPr/>
        </p:nvSpPr>
        <p:spPr>
          <a:xfrm>
            <a:off x="7685842" y="5747147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Low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685842" y="6237565"/>
            <a:ext cx="5893475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Advanced segmentation, export tooling</a:t>
            </a:r>
            <a:endParaRPr lang="en-US" sz="175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8412E5-39B5-B4D0-E130-042F16D022CC}"/>
              </a:ext>
            </a:extLst>
          </p:cNvPr>
          <p:cNvSpPr/>
          <p:nvPr/>
        </p:nvSpPr>
        <p:spPr>
          <a:xfrm>
            <a:off x="12773320" y="7767687"/>
            <a:ext cx="1791092" cy="3959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997200" y="600075"/>
            <a:ext cx="10941685" cy="234378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Core Functional Requirements</a:t>
            </a:r>
            <a:endParaRPr lang="en-US" sz="3900" dirty="0"/>
          </a:p>
        </p:txBody>
      </p:sp>
      <p:sp>
        <p:nvSpPr>
          <p:cNvPr id="4" name="Shape 1"/>
          <p:cNvSpPr/>
          <p:nvPr/>
        </p:nvSpPr>
        <p:spPr>
          <a:xfrm>
            <a:off x="582890" y="2519720"/>
            <a:ext cx="4281964" cy="2086928"/>
          </a:xfrm>
          <a:prstGeom prst="roundRect">
            <a:avLst>
              <a:gd name="adj" fmla="val 1425"/>
            </a:avLst>
          </a:prstGeom>
          <a:solidFill>
            <a:srgbClr val="EAE8F3"/>
          </a:solidFill>
        </p:spPr>
      </p:sp>
      <p:sp>
        <p:nvSpPr>
          <p:cNvPr id="5" name="Text 2"/>
          <p:cNvSpPr/>
          <p:nvPr/>
        </p:nvSpPr>
        <p:spPr>
          <a:xfrm>
            <a:off x="1304885" y="2773839"/>
            <a:ext cx="2837974" cy="30980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9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Flexible Link Creation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781050" y="3276600"/>
            <a:ext cx="3885565" cy="125539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15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Utilize auto-generated keys or custom aliases, with support for TTL, tags, and optional metadata.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273278" y="2519720"/>
            <a:ext cx="4281964" cy="2086928"/>
          </a:xfrm>
          <a:prstGeom prst="roundRect">
            <a:avLst>
              <a:gd name="adj" fmla="val 1425"/>
            </a:avLst>
          </a:prstGeom>
          <a:solidFill>
            <a:srgbClr val="EAE8F3"/>
          </a:solidFill>
        </p:spPr>
      </p:sp>
      <p:sp>
        <p:nvSpPr>
          <p:cNvPr id="8" name="Text 5"/>
          <p:cNvSpPr/>
          <p:nvPr/>
        </p:nvSpPr>
        <p:spPr>
          <a:xfrm>
            <a:off x="5803702" y="2773839"/>
            <a:ext cx="3220998" cy="30980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9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Rapid Global Redirection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5495012" y="3428643"/>
            <a:ext cx="3885486" cy="9519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15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Efficiently resolve GET /s/{id} requests with a 302 redirect, ensuring global p95 latency under 50 ms.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9963666" y="2525435"/>
            <a:ext cx="4281964" cy="2086928"/>
          </a:xfrm>
          <a:prstGeom prst="roundRect">
            <a:avLst>
              <a:gd name="adj" fmla="val 1425"/>
            </a:avLst>
          </a:prstGeom>
          <a:solidFill>
            <a:srgbClr val="EAE8F3"/>
          </a:solidFill>
        </p:spPr>
      </p:sp>
      <p:sp>
        <p:nvSpPr>
          <p:cNvPr id="11" name="Text 8"/>
          <p:cNvSpPr/>
          <p:nvPr/>
        </p:nvSpPr>
        <p:spPr>
          <a:xfrm>
            <a:off x="10161905" y="2773839"/>
            <a:ext cx="3885486" cy="61960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9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Comprehensive Click Tracking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10208895" y="3513653"/>
            <a:ext cx="3885486" cy="9519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15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Capture critical click data including device type via User-Agent, geography via IP lookup, and referrer information.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385445" y="5440045"/>
            <a:ext cx="14071600" cy="1142365"/>
          </a:xfrm>
          <a:prstGeom prst="roundRect">
            <a:avLst>
              <a:gd name="adj" fmla="val 2604"/>
            </a:avLst>
          </a:prstGeom>
          <a:solidFill>
            <a:srgbClr val="EAE8F3"/>
          </a:solidFill>
        </p:spPr>
      </p:sp>
      <p:sp>
        <p:nvSpPr>
          <p:cNvPr id="14" name="Text 11"/>
          <p:cNvSpPr/>
          <p:nvPr/>
        </p:nvSpPr>
        <p:spPr>
          <a:xfrm>
            <a:off x="5495330" y="5604470"/>
            <a:ext cx="3639741" cy="30980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9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Detailed Analytics Reporting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991314" y="6113224"/>
            <a:ext cx="12845891" cy="31730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15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Access in-depth analytics, presenting total clicks, unique clicks, time-series charts, and breakdowns by top countries, referrers, and devices.</a:t>
            </a:r>
            <a:endParaRPr lang="en-US" sz="155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2F6423E-3759-80A6-AAD6-70896D862A2B}"/>
              </a:ext>
            </a:extLst>
          </p:cNvPr>
          <p:cNvSpPr/>
          <p:nvPr/>
        </p:nvSpPr>
        <p:spPr>
          <a:xfrm>
            <a:off x="12773320" y="7786540"/>
            <a:ext cx="1772239" cy="3582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213967"/>
            <a:ext cx="8891945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Non-Functional Requirements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489722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Performance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070866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Availability: 99.99% for redirects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513064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p95 latency &lt; 50ms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4955262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p99 latency &lt; 100ms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5332928" y="3489722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Scale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332928" y="4070866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1B+ clicks/day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5332928" y="4513064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100k+ peak QPS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332928" y="4955262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Never lose link mappings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872067" y="3489722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Security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872067" y="4070866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AuthN/AuthZ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872067" y="4513064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Rate limiting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872067" y="4955262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Domain safety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93790" y="5652611"/>
            <a:ext cx="13042821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Strong consistency for redirect mapping. Eventual consistency for analytics. Global delivery via Anycast + multi-region.</a:t>
            </a:r>
            <a:endParaRPr lang="en-US" sz="17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893681-DD82-07E5-6412-13FBBD7B065A}"/>
              </a:ext>
            </a:extLst>
          </p:cNvPr>
          <p:cNvSpPr/>
          <p:nvPr/>
        </p:nvSpPr>
        <p:spPr>
          <a:xfrm>
            <a:off x="12792173" y="7767687"/>
            <a:ext cx="1753386" cy="3629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0428" y="1654016"/>
            <a:ext cx="5869424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System Architecture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816423"/>
            <a:ext cx="13042821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Our system architecture prioritizes high traffic, fast redirects, and reliable analytics through these core principles: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3434477"/>
            <a:ext cx="130428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SzPct val="100000"/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CDN for Redirects:</a:t>
            </a: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 Content Delivery Network handles 95% of requests, ensuring low latency (p95 &lt; 50ms) and global distribution.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239578"/>
            <a:ext cx="130428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SzPct val="100000"/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Asynchronous Analytics:</a:t>
            </a: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Analytics are processed asynchronously, minimizing impact on user redirect experiences and allowing for scalable data processing.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5044678"/>
            <a:ext cx="130428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SzPct val="100000"/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Centralized Writes:</a:t>
            </a: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Critical link mappings maintain strong consistency via write operations centralized to a single primary region.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849779"/>
            <a:ext cx="130428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SzPct val="100000"/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Multi-Region Deployment:</a:t>
            </a: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Supported by Anycast DNS, this enables handling 1 billion+ clicks daily and peak loads exceeding 100,000 QPS.</a:t>
            </a:r>
            <a:endParaRPr lang="en-US" sz="17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89147A-2BBF-D078-E2C2-A3132C42314C}"/>
              </a:ext>
            </a:extLst>
          </p:cNvPr>
          <p:cNvSpPr/>
          <p:nvPr/>
        </p:nvSpPr>
        <p:spPr>
          <a:xfrm>
            <a:off x="12877014" y="7663992"/>
            <a:ext cx="1668545" cy="49019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6271" y="507802"/>
            <a:ext cx="4616410" cy="57697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Capacity Planning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6271" y="1546265"/>
            <a:ext cx="4292084" cy="60936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50"/>
              </a:lnSpc>
              <a:buNone/>
            </a:pPr>
            <a:r>
              <a:rPr lang="en-US" sz="47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100M</a:t>
            </a:r>
            <a:endParaRPr lang="en-US" sz="4750" dirty="0"/>
          </a:p>
        </p:txBody>
      </p:sp>
      <p:sp>
        <p:nvSpPr>
          <p:cNvPr id="4" name="Text 2"/>
          <p:cNvSpPr/>
          <p:nvPr/>
        </p:nvSpPr>
        <p:spPr>
          <a:xfrm>
            <a:off x="1638181" y="2386370"/>
            <a:ext cx="2308146" cy="288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Short Links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169098" y="1546265"/>
            <a:ext cx="4292084" cy="60936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50"/>
              </a:lnSpc>
              <a:buNone/>
            </a:pPr>
            <a:r>
              <a:rPr lang="en-US" sz="47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1B</a:t>
            </a:r>
            <a:endParaRPr lang="en-US" sz="4750" dirty="0"/>
          </a:p>
        </p:txBody>
      </p:sp>
      <p:sp>
        <p:nvSpPr>
          <p:cNvPr id="6" name="Text 4"/>
          <p:cNvSpPr/>
          <p:nvPr/>
        </p:nvSpPr>
        <p:spPr>
          <a:xfrm>
            <a:off x="6161008" y="2386370"/>
            <a:ext cx="2308146" cy="288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Clicks/Day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169098" y="2785586"/>
            <a:ext cx="4292084" cy="2953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~12k clicks/sec average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91926" y="1546265"/>
            <a:ext cx="4292084" cy="60936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50"/>
              </a:lnSpc>
              <a:buNone/>
            </a:pPr>
            <a:r>
              <a:rPr lang="en-US" sz="47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100K+</a:t>
            </a:r>
            <a:endParaRPr lang="en-US" sz="4750" dirty="0"/>
          </a:p>
        </p:txBody>
      </p:sp>
      <p:sp>
        <p:nvSpPr>
          <p:cNvPr id="9" name="Text 7"/>
          <p:cNvSpPr/>
          <p:nvPr/>
        </p:nvSpPr>
        <p:spPr>
          <a:xfrm>
            <a:off x="10683835" y="2386370"/>
            <a:ext cx="2308146" cy="288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Peak QPS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6271" y="3357920"/>
            <a:ext cx="2769870" cy="34611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Cache Efficiency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656517" y="5181124"/>
            <a:ext cx="2271236" cy="46160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95%</a:t>
            </a:r>
            <a:endParaRPr lang="en-US" sz="36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319" y="4027051"/>
            <a:ext cx="2769870" cy="276987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38181" y="7027545"/>
            <a:ext cx="2308146" cy="288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CDN Handles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179344" y="5181124"/>
            <a:ext cx="2271236" cy="46160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90%</a:t>
            </a:r>
            <a:endParaRPr lang="en-US" sz="36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0146" y="4027051"/>
            <a:ext cx="2769870" cy="276987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61008" y="7027545"/>
            <a:ext cx="2308146" cy="288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Edge Cache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5169098" y="7426762"/>
            <a:ext cx="4292084" cy="2953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Of remaining 5%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10702171" y="5181124"/>
            <a:ext cx="2271236" cy="46160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0.5%</a:t>
            </a:r>
            <a:endParaRPr lang="en-US" sz="36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2973" y="4027051"/>
            <a:ext cx="2769870" cy="276987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683835" y="7027545"/>
            <a:ext cx="2308146" cy="288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DB Traffic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9691926" y="7426762"/>
            <a:ext cx="4292084" cy="2953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~500 QPS to database</a:t>
            </a:r>
            <a:endParaRPr lang="en-US" sz="1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2C1FB37-361F-8C23-CC60-52C98B812E6B}"/>
              </a:ext>
            </a:extLst>
          </p:cNvPr>
          <p:cNvSpPr/>
          <p:nvPr/>
        </p:nvSpPr>
        <p:spPr>
          <a:xfrm>
            <a:off x="12858161" y="7722157"/>
            <a:ext cx="1668544" cy="4269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62157"/>
            <a:ext cx="5670590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API Specifications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111097"/>
            <a:ext cx="13042821" cy="1866900"/>
          </a:xfrm>
          <a:prstGeom prst="roundRect">
            <a:avLst>
              <a:gd name="adj" fmla="val 1822"/>
            </a:avLst>
          </a:prstGeom>
          <a:solidFill>
            <a:srgbClr val="FBFAFF"/>
          </a:solidFill>
          <a:ln w="30480">
            <a:solidFill>
              <a:srgbClr val="D0CE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270" y="2141577"/>
            <a:ext cx="907256" cy="1805940"/>
          </a:xfrm>
          <a:prstGeom prst="rect">
            <a:avLst/>
          </a:prstGeom>
          <a:solidFill>
            <a:srgbClr val="EAE8F3"/>
          </a:solidFill>
        </p:spPr>
      </p:sp>
      <p:sp>
        <p:nvSpPr>
          <p:cNvPr id="5" name="Text 3"/>
          <p:cNvSpPr/>
          <p:nvPr/>
        </p:nvSpPr>
        <p:spPr>
          <a:xfrm>
            <a:off x="1107758" y="2831902"/>
            <a:ext cx="340162" cy="4252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1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1958340" y="2368391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POST /v1/links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958340" y="2858810"/>
            <a:ext cx="1162097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Request:</a:t>
            </a: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{ long_url, custom_alias?, ttl?, metadata? }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1958340" y="3357801"/>
            <a:ext cx="1162097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Response:</a:t>
            </a: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{ short_id, short_url }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793790" y="4204811"/>
            <a:ext cx="13042821" cy="1367909"/>
          </a:xfrm>
          <a:prstGeom prst="roundRect">
            <a:avLst>
              <a:gd name="adj" fmla="val 2487"/>
            </a:avLst>
          </a:prstGeom>
          <a:solidFill>
            <a:srgbClr val="FBFAFF"/>
          </a:solidFill>
          <a:ln w="30480">
            <a:solidFill>
              <a:srgbClr val="D0CE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4270" y="4235291"/>
            <a:ext cx="907256" cy="1306949"/>
          </a:xfrm>
          <a:prstGeom prst="rect">
            <a:avLst/>
          </a:prstGeom>
          <a:solidFill>
            <a:srgbClr val="EAE8F3"/>
          </a:solidFill>
        </p:spPr>
      </p:sp>
      <p:sp>
        <p:nvSpPr>
          <p:cNvPr id="11" name="Text 9"/>
          <p:cNvSpPr/>
          <p:nvPr/>
        </p:nvSpPr>
        <p:spPr>
          <a:xfrm>
            <a:off x="1107758" y="4676061"/>
            <a:ext cx="340162" cy="4252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2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1958340" y="4462105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GET /s/{short_id}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958340" y="4952524"/>
            <a:ext cx="1162097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Returns 302 redirect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793790" y="5799534"/>
            <a:ext cx="13042821" cy="1367909"/>
          </a:xfrm>
          <a:prstGeom prst="roundRect">
            <a:avLst>
              <a:gd name="adj" fmla="val 2487"/>
            </a:avLst>
          </a:prstGeom>
          <a:solidFill>
            <a:srgbClr val="FBFAFF"/>
          </a:solidFill>
          <a:ln w="30480">
            <a:solidFill>
              <a:srgbClr val="D0CE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4270" y="5830014"/>
            <a:ext cx="907256" cy="1306949"/>
          </a:xfrm>
          <a:prstGeom prst="rect">
            <a:avLst/>
          </a:prstGeom>
          <a:solidFill>
            <a:srgbClr val="EAE8F3"/>
          </a:solidFill>
        </p:spPr>
      </p:sp>
      <p:sp>
        <p:nvSpPr>
          <p:cNvPr id="16" name="Text 14"/>
          <p:cNvSpPr/>
          <p:nvPr/>
        </p:nvSpPr>
        <p:spPr>
          <a:xfrm>
            <a:off x="1107758" y="6270784"/>
            <a:ext cx="340162" cy="4252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3</a:t>
            </a:r>
            <a:endParaRPr lang="en-US" sz="2650" dirty="0"/>
          </a:p>
        </p:txBody>
      </p:sp>
      <p:sp>
        <p:nvSpPr>
          <p:cNvPr id="17" name="Text 15"/>
          <p:cNvSpPr/>
          <p:nvPr/>
        </p:nvSpPr>
        <p:spPr>
          <a:xfrm>
            <a:off x="1958340" y="6056828"/>
            <a:ext cx="3350657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GET /v1/links/{id}/stats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58340" y="6547247"/>
            <a:ext cx="1162097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Returns analytics aggregates</a:t>
            </a:r>
            <a:endParaRPr lang="en-US" sz="17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A3CD1B-8E6C-765D-6A9F-238758E7E2D1}"/>
              </a:ext>
            </a:extLst>
          </p:cNvPr>
          <p:cNvSpPr/>
          <p:nvPr/>
        </p:nvSpPr>
        <p:spPr>
          <a:xfrm>
            <a:off x="12867588" y="7657863"/>
            <a:ext cx="1687398" cy="4868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95425"/>
            <a:ext cx="8729782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Caching &amp; Resiliency Strategy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771180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Caching Layers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3352324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CDN caching: 30–60 seconds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3794522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Edge Redis: 1–24 hours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4236720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Local LRU: microsecond lookups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4826437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Rate Limiting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93790" y="5407581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Per-IP throttling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93790" y="5849779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Per-token API limits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793790" y="6291977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Malicious domain blocklist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599521" y="2771180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Resiliency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599521" y="3352324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Circuit breakers around DB + Kafka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599521" y="3794522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Retry with exponential backoff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7599521" y="4236720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Regional failover via Anycast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599521" y="4678918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Redirect continues if analytics degrades</a:t>
            </a:r>
            <a:endParaRPr lang="en-US" sz="17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03B663-AD57-EE76-6784-2711DB3B240F}"/>
              </a:ext>
            </a:extLst>
          </p:cNvPr>
          <p:cNvSpPr/>
          <p:nvPr/>
        </p:nvSpPr>
        <p:spPr>
          <a:xfrm>
            <a:off x="12886441" y="7739406"/>
            <a:ext cx="1649691" cy="3629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09700"/>
            <a:ext cx="8463796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Quality Targets &amp; Trade-Offs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572107"/>
            <a:ext cx="13042821" cy="3266837"/>
          </a:xfrm>
          <a:prstGeom prst="roundRect">
            <a:avLst>
              <a:gd name="adj" fmla="val 1042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1410" y="2579727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1028224" y="2723436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Category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45824" y="2723436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Target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801410" y="3230047"/>
            <a:ext cx="13027581" cy="650319"/>
          </a:xfrm>
          <a:prstGeom prst="rect">
            <a:avLst/>
          </a:prstGeom>
          <a:solidFill>
            <a:srgbClr val="000000">
              <a:alpha val="4000"/>
            </a:srgbClr>
          </a:solidFill>
        </p:spPr>
      </p:sp>
      <p:sp>
        <p:nvSpPr>
          <p:cNvPr id="8" name="Text 6"/>
          <p:cNvSpPr/>
          <p:nvPr/>
        </p:nvSpPr>
        <p:spPr>
          <a:xfrm>
            <a:off x="1028224" y="3373755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Redirect availability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545824" y="3373755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99.99%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801410" y="3880366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</p:spPr>
      </p:sp>
      <p:sp>
        <p:nvSpPr>
          <p:cNvPr id="11" name="Text 9"/>
          <p:cNvSpPr/>
          <p:nvPr/>
        </p:nvSpPr>
        <p:spPr>
          <a:xfrm>
            <a:off x="1028224" y="4024074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Redirect latency p95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545824" y="4024074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&lt; 50ms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801410" y="4530685"/>
            <a:ext cx="13027581" cy="650319"/>
          </a:xfrm>
          <a:prstGeom prst="rect">
            <a:avLst/>
          </a:prstGeom>
          <a:solidFill>
            <a:srgbClr val="000000">
              <a:alpha val="4000"/>
            </a:srgbClr>
          </a:solidFill>
        </p:spPr>
      </p:sp>
      <p:sp>
        <p:nvSpPr>
          <p:cNvPr id="14" name="Text 12"/>
          <p:cNvSpPr/>
          <p:nvPr/>
        </p:nvSpPr>
        <p:spPr>
          <a:xfrm>
            <a:off x="1028224" y="4674394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Analytics freshness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545824" y="4674394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95% &lt; 5 minutes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801410" y="5181005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</p:spPr>
      </p:sp>
      <p:sp>
        <p:nvSpPr>
          <p:cNvPr id="17" name="Text 15"/>
          <p:cNvSpPr/>
          <p:nvPr/>
        </p:nvSpPr>
        <p:spPr>
          <a:xfrm>
            <a:off x="1028224" y="5324713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API availability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7545824" y="5324713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99.9%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793790" y="6094095"/>
            <a:ext cx="130428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Strong consistency increases redirect correctness but adds write latency. Eventual consistency in analytics allows massive scale at lower cost. CDN caching improves performance but requires purge workflows.</a:t>
            </a:r>
            <a:endParaRPr lang="en-US" sz="17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7C23E1F-7102-08B4-D040-3E77BD7E9951}"/>
              </a:ext>
            </a:extLst>
          </p:cNvPr>
          <p:cNvSpPr/>
          <p:nvPr/>
        </p:nvSpPr>
        <p:spPr>
          <a:xfrm>
            <a:off x="12811027" y="7758260"/>
            <a:ext cx="1734532" cy="3959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566</Words>
  <Application>Microsoft Office PowerPoint</Application>
  <PresentationFormat>Custom</PresentationFormat>
  <Paragraphs>117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Open Sans</vt:lpstr>
      <vt:lpstr>Calibri</vt:lpstr>
      <vt:lpstr>Arial</vt:lpstr>
      <vt:lpstr>Libre Baskerville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NITHISHA MEKA</cp:lastModifiedBy>
  <cp:revision>3</cp:revision>
  <dcterms:created xsi:type="dcterms:W3CDTF">2025-11-17T17:57:00Z</dcterms:created>
  <dcterms:modified xsi:type="dcterms:W3CDTF">2025-11-19T15:36:38Z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5CDF05A5E9E341538778C8999B491E67_12</vt:lpwstr>
  </property>
  <property fmtid="{D5CDD505-2E9C-101B-9397-08002B2CF9AE}" pid="3" name="KSOProductBuildVer">
    <vt:lpwstr>1033-12.2.0.23155</vt:lpwstr>
  </property>
</Properties>
</file>