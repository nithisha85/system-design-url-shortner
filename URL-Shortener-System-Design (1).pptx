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Libre Baskerville" panose="02000000000000000000" pitchFamily="34" charset="0"/>
      <p:bold r:id="rId17"/>
    </p:embeddedFont>
    <p:embeddedFont>
      <p:font typeface="Libre Baskerville" panose="02000000000000000000" pitchFamily="34" charset="-122"/>
      <p:bold r:id="rId18"/>
    </p:embeddedFont>
    <p:embeddedFont>
      <p:font typeface="Libre Baskerville" panose="02000000000000000000" pitchFamily="34" charset="-120"/>
      <p:bold r:id="rId19"/>
    </p:embeddedFont>
    <p:embeddedFont>
      <p:font typeface="Open Sans" pitchFamily="34" charset="0"/>
      <p:bold r:id="rId20"/>
    </p:embeddedFont>
    <p:embeddedFont>
      <p:font typeface="Open Sans" pitchFamily="34" charset="-122"/>
      <p:bold r:id="rId21"/>
    </p:embeddedFont>
    <p:embeddedFont>
      <p:font typeface="Open Sans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URL Shortener System Design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system design for building a scalable, high-performance URL shortening service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3240"/>
            <a:ext cx="597824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Stakeholder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7564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</p:spPr>
      </p:sp>
      <p:sp>
        <p:nvSpPr>
          <p:cNvPr id="4" name="Text 2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Marketers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92880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links, branded domains, campaign analytics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27564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</p:spPr>
      </p:sp>
      <p:sp>
        <p:nvSpPr>
          <p:cNvPr id="7" name="Text 5"/>
          <p:cNvSpPr/>
          <p:nvPr/>
        </p:nvSpPr>
        <p:spPr>
          <a:xfrm>
            <a:off x="7655362" y="3502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App Developers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992880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APIs, automation, integrations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End Users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global redirects, reliable uptime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</p:spPr>
      </p:sp>
      <p:sp>
        <p:nvSpPr>
          <p:cNvPr id="13" name="Text 11"/>
          <p:cNvSpPr/>
          <p:nvPr/>
        </p:nvSpPr>
        <p:spPr>
          <a:xfrm>
            <a:off x="7655362" y="5036225"/>
            <a:ext cx="306466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Analytics Consumers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click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183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Priority Matrix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34245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64725"/>
            <a:ext cx="6346984" cy="680442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5" name="Text 3"/>
          <p:cNvSpPr/>
          <p:nvPr/>
        </p:nvSpPr>
        <p:spPr>
          <a:xfrm>
            <a:off x="3827621" y="269224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47198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Critical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962400"/>
            <a:ext cx="589335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Redirect latency, correctness, availability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34245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564725"/>
            <a:ext cx="6347103" cy="680442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0" name="Text 8"/>
          <p:cNvSpPr/>
          <p:nvPr/>
        </p:nvSpPr>
        <p:spPr>
          <a:xfrm>
            <a:off x="10462498" y="269224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347198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High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962400"/>
            <a:ext cx="589347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 analytics, strong API reliability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809411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5" name="Text 13"/>
          <p:cNvSpPr/>
          <p:nvPr/>
        </p:nvSpPr>
        <p:spPr>
          <a:xfrm>
            <a:off x="3827621" y="4967407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Medium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237565"/>
            <a:ext cx="589335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alias features, dashboard polish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09411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20" name="Text 18"/>
          <p:cNvSpPr/>
          <p:nvPr/>
        </p:nvSpPr>
        <p:spPr>
          <a:xfrm>
            <a:off x="10462498" y="4967407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237565"/>
            <a:ext cx="589347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segmentation, export tooling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97200" y="600075"/>
            <a:ext cx="10941685" cy="2343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Core Functional Requirements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582890" y="2519720"/>
            <a:ext cx="4281964" cy="2086928"/>
          </a:xfrm>
          <a:prstGeom prst="roundRect">
            <a:avLst>
              <a:gd name="adj" fmla="val 1425"/>
            </a:avLst>
          </a:prstGeom>
          <a:solidFill>
            <a:srgbClr val="EAE8F3"/>
          </a:solidFill>
        </p:spPr>
      </p:sp>
      <p:sp>
        <p:nvSpPr>
          <p:cNvPr id="5" name="Text 2"/>
          <p:cNvSpPr/>
          <p:nvPr/>
        </p:nvSpPr>
        <p:spPr>
          <a:xfrm>
            <a:off x="1304885" y="2773839"/>
            <a:ext cx="2837974" cy="3098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Flexible Link Creation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81050" y="3276600"/>
            <a:ext cx="3885565" cy="1255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auto-generated keys or custom aliases, with support for TTL, tags, and optional metadata.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73278" y="2519720"/>
            <a:ext cx="4281964" cy="2086928"/>
          </a:xfrm>
          <a:prstGeom prst="roundRect">
            <a:avLst>
              <a:gd name="adj" fmla="val 1425"/>
            </a:avLst>
          </a:prstGeom>
          <a:solidFill>
            <a:srgbClr val="EAE8F3"/>
          </a:solidFill>
        </p:spPr>
      </p:sp>
      <p:sp>
        <p:nvSpPr>
          <p:cNvPr id="8" name="Text 5"/>
          <p:cNvSpPr/>
          <p:nvPr/>
        </p:nvSpPr>
        <p:spPr>
          <a:xfrm>
            <a:off x="5803702" y="2773839"/>
            <a:ext cx="3220998" cy="3098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Rapid Global Redirection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95012" y="3428643"/>
            <a:ext cx="3885486" cy="951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Efficiently resolve GET /s/{id} requests with a 302 redirect, ensuring global p95 latency under 50 ms.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963666" y="2525435"/>
            <a:ext cx="4281964" cy="2086928"/>
          </a:xfrm>
          <a:prstGeom prst="roundRect">
            <a:avLst>
              <a:gd name="adj" fmla="val 1425"/>
            </a:avLst>
          </a:prstGeom>
          <a:solidFill>
            <a:srgbClr val="EAE8F3"/>
          </a:solidFill>
        </p:spPr>
      </p:sp>
      <p:sp>
        <p:nvSpPr>
          <p:cNvPr id="11" name="Text 8"/>
          <p:cNvSpPr/>
          <p:nvPr/>
        </p:nvSpPr>
        <p:spPr>
          <a:xfrm>
            <a:off x="10161905" y="2773839"/>
            <a:ext cx="3885486" cy="6196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Comprehensive Click Tracking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208895" y="3513653"/>
            <a:ext cx="3885486" cy="951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critical click data including device type via User-Agent, geography via IP lookup, and referrer information.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385445" y="5440045"/>
            <a:ext cx="14071600" cy="1142365"/>
          </a:xfrm>
          <a:prstGeom prst="roundRect">
            <a:avLst>
              <a:gd name="adj" fmla="val 2604"/>
            </a:avLst>
          </a:prstGeom>
          <a:solidFill>
            <a:srgbClr val="EAE8F3"/>
          </a:solidFill>
        </p:spPr>
      </p:sp>
      <p:sp>
        <p:nvSpPr>
          <p:cNvPr id="14" name="Text 11"/>
          <p:cNvSpPr/>
          <p:nvPr/>
        </p:nvSpPr>
        <p:spPr>
          <a:xfrm>
            <a:off x="5495330" y="5604470"/>
            <a:ext cx="3639741" cy="3098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Detailed Analytics Reporting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91314" y="6113224"/>
            <a:ext cx="12845891" cy="317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in-depth analytics, presenting total clicks, unique clicks, time-series charts, and breakdowns by top countries, referrers, and devices.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3967"/>
            <a:ext cx="889194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Non-Functional Requirements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8972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70866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Availability: 99.99% for redirects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3064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p95 latency &lt; 50ms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5262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p99 latency &lt; 100ms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48972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Scale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070866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1B+ clicks/day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513064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100k+ peak QPS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2928" y="4955262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lose link mappings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48972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2067" y="4070866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AuthN/AuthZ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2067" y="4513064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limiting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72067" y="4955262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 safety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5261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consistency for redirect mapping. Eventual consistency for analytics. Global delivery via Anycast + multi-region.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0428" y="1654016"/>
            <a:ext cx="586942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642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architecture prioritizes high traffic, fast redirects, and reliable analytics through these core principles: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34477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CDN for Redirects: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Content Delivery Network handles 95% of requests, ensuring low latency (p95 &lt; 50ms) and global distribution.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3957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Asynchronous Analytics: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Analytics are processed asynchronously, minimizing impact on user redirect experiences and allowing for scalable data processing.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467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Writes: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Critical link mappings maintain strong consistency via write operations centralized to a single primary region.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49779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Multi-Region Deployment: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Supported by Anycast DNS, this enables handling 1 billion+ clicks daily and peak loads exceeding 100,000 QPS.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271" y="507802"/>
            <a:ext cx="4616410" cy="576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Capacity Planning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6271" y="1546265"/>
            <a:ext cx="4292084" cy="6093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100M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1638181" y="2386370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Short Links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69098" y="1546265"/>
            <a:ext cx="4292084" cy="6093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1B</a:t>
            </a:r>
            <a:endParaRPr lang="en-US" sz="4750" dirty="0"/>
          </a:p>
        </p:txBody>
      </p:sp>
      <p:sp>
        <p:nvSpPr>
          <p:cNvPr id="6" name="Text 4"/>
          <p:cNvSpPr/>
          <p:nvPr/>
        </p:nvSpPr>
        <p:spPr>
          <a:xfrm>
            <a:off x="6161008" y="2386370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Clicks/Day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69098" y="2785586"/>
            <a:ext cx="4292084" cy="2953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~12k clicks/sec average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91926" y="1546265"/>
            <a:ext cx="4292084" cy="6093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100K+</a:t>
            </a:r>
            <a:endParaRPr lang="en-US" sz="4750" dirty="0"/>
          </a:p>
        </p:txBody>
      </p:sp>
      <p:sp>
        <p:nvSpPr>
          <p:cNvPr id="9" name="Text 7"/>
          <p:cNvSpPr/>
          <p:nvPr/>
        </p:nvSpPr>
        <p:spPr>
          <a:xfrm>
            <a:off x="10683835" y="2386370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Peak QPS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271" y="3357920"/>
            <a:ext cx="2769870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Cache Efficiency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56517" y="5181124"/>
            <a:ext cx="2271236" cy="461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95%</a:t>
            </a:r>
            <a:endParaRPr lang="en-US" sz="3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319" y="4027051"/>
            <a:ext cx="2769870" cy="27698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38181" y="7027545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CDN Handles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79344" y="5181124"/>
            <a:ext cx="2271236" cy="461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90%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146" y="4027051"/>
            <a:ext cx="2769870" cy="27698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61008" y="7027545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Edge Cache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169098" y="7426762"/>
            <a:ext cx="4292084" cy="2953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remaining 5%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0702171" y="5181124"/>
            <a:ext cx="2271236" cy="461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0.5%</a:t>
            </a:r>
            <a:endParaRPr lang="en-US" sz="3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973" y="4027051"/>
            <a:ext cx="2769870" cy="27698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83835" y="7027545"/>
            <a:ext cx="2308146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DB Traffic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691926" y="7426762"/>
            <a:ext cx="4292084" cy="2953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~500 QPS to database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15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API Specifications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11097"/>
            <a:ext cx="13042821" cy="1866900"/>
          </a:xfrm>
          <a:prstGeom prst="roundRect">
            <a:avLst>
              <a:gd name="adj" fmla="val 1822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141577"/>
            <a:ext cx="907256" cy="1805940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5" name="Text 3"/>
          <p:cNvSpPr/>
          <p:nvPr/>
        </p:nvSpPr>
        <p:spPr>
          <a:xfrm>
            <a:off x="1107758" y="2831902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958340" y="236839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POST /v1/links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58340" y="2858810"/>
            <a:ext cx="116209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{ long_url, custom_alias?, ttl?, metadata? }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958340" y="3357801"/>
            <a:ext cx="116209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{ short_id, short_url }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204811"/>
            <a:ext cx="13042821" cy="1367909"/>
          </a:xfrm>
          <a:prstGeom prst="roundRect">
            <a:avLst>
              <a:gd name="adj" fmla="val 2487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270" y="4235291"/>
            <a:ext cx="907256" cy="1306949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1" name="Text 9"/>
          <p:cNvSpPr/>
          <p:nvPr/>
        </p:nvSpPr>
        <p:spPr>
          <a:xfrm>
            <a:off x="1107758" y="467606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958340" y="446210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GET /s/{short_id}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58340" y="4952524"/>
            <a:ext cx="116209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Returns 302 redirect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799534"/>
            <a:ext cx="13042821" cy="1367909"/>
          </a:xfrm>
          <a:prstGeom prst="roundRect">
            <a:avLst>
              <a:gd name="adj" fmla="val 2487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270" y="5830014"/>
            <a:ext cx="907256" cy="1306949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6" name="Text 14"/>
          <p:cNvSpPr/>
          <p:nvPr/>
        </p:nvSpPr>
        <p:spPr>
          <a:xfrm>
            <a:off x="1107758" y="6270784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958340" y="6056828"/>
            <a:ext cx="335065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GET /v1/links/{id}/stats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58340" y="6547247"/>
            <a:ext cx="116209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Returns analytics aggregates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5425"/>
            <a:ext cx="872978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Caching &amp; Resiliency Strategy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118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Caching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232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CDN caching: 30–60 seconds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9452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Redis: 1–24 hours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3672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LRU: microsecond lookups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2643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Rate Limiting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40758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Per-IP throttling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4977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Per-token API limits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29197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domain blocklist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77118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Resiliency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335232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Circuit breakers around DB + Kafka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379452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Retry with exponential backoff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23672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failover via Anycast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67891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Redirect continues if analytics degrades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9700"/>
            <a:ext cx="846379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Quality Targets &amp; Trade-Offs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72107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7972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8224" y="2723436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2723436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23004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28224" y="3373755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Redirect availability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373755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99.99%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88036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28224" y="4024074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Redirect latency p95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024074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50ms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53068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28224" y="4674394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 freshness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4674394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95% &lt; 5 minutes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1810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1028224" y="5324713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availability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324713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99.9%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094095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consistency increases redirect correctness but adds write latency. Eventual consistency in analytics allows massive scale at lower cost. CDN caching improves performance but requires purge workflows.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3224</Words>
  <Application>WPS Presentation</Application>
  <PresentationFormat>On-screen Show 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Libre Baskerville</vt:lpstr>
      <vt:lpstr>Libre Baskerville</vt:lpstr>
      <vt:lpstr>Libre Baskerville</vt:lpstr>
      <vt:lpstr>Open Sans</vt:lpstr>
      <vt:lpstr>Open Sans</vt:lpstr>
      <vt:lpstr>Open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nithisha meka</cp:lastModifiedBy>
  <cp:revision>2</cp:revision>
  <dcterms:created xsi:type="dcterms:W3CDTF">2025-11-17T17:57:00Z</dcterms:created>
  <dcterms:modified xsi:type="dcterms:W3CDTF">2025-11-17T18:03:14Z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5CDF05A5E9E341538778C8999B491E67_12</vt:lpwstr>
  </property>
  <property fmtid="{D5CDD505-2E9C-101B-9397-08002B2CF9AE}" pid="3" name="KSOProductBuildVer">
    <vt:lpwstr>1033-12.2.0.23155</vt:lpwstr>
  </property>
</Properties>
</file>